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D9B8"/>
                </a:solidFill>
                <a:latin typeface="Meiryo"/>
              </a:rPr>
              <a:t>からだラボ整骨院／狛江駅前整骨院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このアプリは何？ どこに保存？ 安全なの？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DD9EA"/>
                </a:solidFill>
                <a:latin typeface="Meiryo"/>
              </a:rPr>
              <a:t>申込書アプリの「仕組み」と「個人情報の安全性」を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DD9EA"/>
                </a:solidFill>
                <a:latin typeface="Meiryo"/>
              </a:rPr>
              <a:t>初心者向けに、正直に解説します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FB2CC"/>
                </a:solidFill>
                <a:latin typeface="Meiryo"/>
              </a:rPr>
              <a:t>2026/06/16 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07A3F"/>
                </a:solidFill>
                <a:latin typeface="Meiryo"/>
              </a:rPr>
              <a:t>まず結論から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F3A5F"/>
                </a:solidFill>
                <a:latin typeface="Meiryo"/>
              </a:rPr>
              <a:t>登場するのは「3つ」だけ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2926080" cy="45720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121408"/>
            <a:ext cx="457200" cy="457200"/>
          </a:xfrm>
          <a:prstGeom prst="round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70048"/>
            <a:ext cx="30723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C5282"/>
                </a:solidFill>
                <a:latin typeface="Meiryo"/>
              </a:rPr>
              <a:t>① 見た目（サイト）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127248"/>
            <a:ext cx="3072384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43244"/>
                </a:solidFill>
                <a:latin typeface="Meiryo"/>
              </a:rPr>
              <a:t>画面そのもの。HTML/CSSで作ったファイル。
→ GitHub Pages / Netlify に置いて公開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44568" y="2121408"/>
            <a:ext cx="457200" cy="457200"/>
          </a:xfrm>
          <a:prstGeom prst="round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70048"/>
            <a:ext cx="30723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C5282"/>
                </a:solidFill>
                <a:latin typeface="Meiryo"/>
              </a:rPr>
              <a:t>② 保管庫（サーバー）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127248"/>
            <a:ext cx="3072384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43244"/>
                </a:solidFill>
                <a:latin typeface="Meiryo"/>
              </a:rPr>
              <a:t>入力した内容を保存する場所。
→ Render上のAPI＋データベース
（勤怠アプリと同じ場所に相乗り）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7888" y="2121408"/>
            <a:ext cx="457200" cy="457200"/>
          </a:xfrm>
          <a:prstGeom prst="round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670048"/>
            <a:ext cx="30723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C5282"/>
                </a:solidFill>
                <a:latin typeface="Meiryo"/>
              </a:rPr>
              <a:t>③ 鍵（合言葉）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127248"/>
            <a:ext cx="3072384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43244"/>
                </a:solidFill>
                <a:latin typeface="Meiryo"/>
              </a:rPr>
              <a:t>スタッフ共通のパスワード。
正しい人だけが保管庫を開けられる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Meiryo"/>
              </a:rPr>
              <a:t>つまり：</a:t>
            </a:r>
            <a:r>
              <a:rPr sz="1800" b="0">
                <a:solidFill>
                  <a:srgbClr val="243244"/>
                </a:solidFill>
                <a:latin typeface="Meiryo"/>
              </a:rPr>
              <a:t>「サイト(A)」で入力 → 「合言葉(C)」で本人確認 → 「サーバー(B)」に保存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B7785"/>
                </a:solidFill>
                <a:latin typeface="Meiryo"/>
              </a:rPr>
              <a:t>…という、ネット上のよくある作り（銀行アプリやネット予約と同じ考え方）です。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07A3F"/>
                </a:solidFill>
                <a:latin typeface="Meiryo"/>
              </a:rPr>
              <a:t>通信の流れ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F3A5F"/>
                </a:solidFill>
                <a:latin typeface="Meiryo"/>
              </a:rPr>
              <a:t>入力したデータはどう動く？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2926080" cy="45720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7432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Meiryo"/>
              </a:rPr>
              <a:t>iPad / PC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785"/>
                </a:solidFill>
                <a:latin typeface="Meiryo"/>
              </a:rPr>
              <a:t>受付の画面で入力・サイン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86000"/>
            <a:ext cx="822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07A3F"/>
                </a:solidFill>
                <a:latin typeface="Meiryo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2004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423160"/>
            <a:ext cx="3017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07A3F"/>
                </a:solidFill>
                <a:latin typeface="Meiryo"/>
              </a:rPr>
              <a:t>インターネット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785"/>
                </a:solidFill>
                <a:latin typeface="Meiryo"/>
              </a:rPr>
              <a:t>HTTPSで暗号化して送信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785"/>
                </a:solidFill>
                <a:latin typeface="Meiryo"/>
              </a:rPr>
              <a:t>（盗み見されにくい）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286000"/>
            <a:ext cx="822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07A3F"/>
                </a:solidFill>
                <a:latin typeface="Meiryo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286000"/>
            <a:ext cx="31089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423160"/>
            <a:ext cx="29260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Meiryo"/>
              </a:rPr>
              <a:t>Renderのサーバー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785"/>
                </a:solidFill>
                <a:latin typeface="Meiryo"/>
              </a:rPr>
              <a:t>合言葉を確認してDBに保存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785"/>
                </a:solidFill>
                <a:latin typeface="Meiryo"/>
              </a:rPr>
              <a:t>全端末で共有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7A4D"/>
                </a:solidFill>
                <a:latin typeface="Meiryo"/>
              </a:rPr>
              <a:t>ポイント①</a:t>
            </a:r>
            <a:r>
              <a:rPr sz="1500" b="0">
                <a:solidFill>
                  <a:srgbClr val="243244"/>
                </a:solidFill>
                <a:latin typeface="Meiryo"/>
              </a:rPr>
              <a:t>  通信は </a:t>
            </a:r>
            <a:r>
              <a:rPr sz="1500" b="1">
                <a:solidFill>
                  <a:srgbClr val="1F3A5F"/>
                </a:solidFill>
                <a:latin typeface="Meiryo"/>
              </a:rPr>
              <a:t>HTTPSで暗号化</a:t>
            </a:r>
            <a:r>
              <a:rPr sz="1500" b="0">
                <a:solidFill>
                  <a:srgbClr val="243244"/>
                </a:solidFill>
                <a:latin typeface="Meiryo"/>
              </a:rPr>
              <a:t>。途中で内容を盗み見されにくい。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7A4D"/>
                </a:solidFill>
                <a:latin typeface="Meiryo"/>
              </a:rPr>
              <a:t>ポイント②</a:t>
            </a:r>
            <a:r>
              <a:rPr sz="1500" b="0">
                <a:solidFill>
                  <a:srgbClr val="243244"/>
                </a:solidFill>
                <a:latin typeface="Meiryo"/>
              </a:rPr>
              <a:t>  サーバーは </a:t>
            </a:r>
            <a:r>
              <a:rPr sz="1500" b="1">
                <a:solidFill>
                  <a:srgbClr val="1F3A5F"/>
                </a:solidFill>
                <a:latin typeface="Meiryo"/>
              </a:rPr>
              <a:t>合言葉が正しい時だけ</a:t>
            </a:r>
            <a:r>
              <a:rPr sz="1500" b="0">
                <a:solidFill>
                  <a:srgbClr val="243244"/>
                </a:solidFill>
                <a:latin typeface="Meiryo"/>
              </a:rPr>
              <a:t>データを返す（違えば即拒否）。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7A4D"/>
                </a:solidFill>
                <a:latin typeface="Meiryo"/>
              </a:rPr>
              <a:t>ポイント③</a:t>
            </a:r>
            <a:r>
              <a:rPr sz="1500" b="0">
                <a:solidFill>
                  <a:srgbClr val="243244"/>
                </a:solidFill>
                <a:latin typeface="Meiryo"/>
              </a:rPr>
              <a:t>  下書き(入力途中)だけは </a:t>
            </a:r>
            <a:r>
              <a:rPr sz="1500" b="1">
                <a:solidFill>
                  <a:srgbClr val="1F3A5F"/>
                </a:solidFill>
                <a:latin typeface="Meiryo"/>
              </a:rPr>
              <a:t>そのiPadの中</a:t>
            </a:r>
            <a:r>
              <a:rPr sz="1500" b="0">
                <a:solidFill>
                  <a:srgbClr val="243244"/>
                </a:solidFill>
                <a:latin typeface="Meiryo"/>
              </a:rPr>
              <a:t>に一時保存。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07A3F"/>
                </a:solidFill>
                <a:latin typeface="Meiryo"/>
              </a:rPr>
              <a:t>使っているサイト/サービスの正体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F3A5F"/>
                </a:solidFill>
                <a:latin typeface="Meiryo"/>
              </a:rPr>
              <a:t>それぞれ何者？ 信頼できる？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2926080" cy="45720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29968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</a:rPr>
              <a:t>GitHub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87168"/>
            <a:ext cx="3118104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43244"/>
                </a:solidFill>
                <a:latin typeface="Meiryo"/>
              </a:rPr>
              <a:t>世界中の開発者が使う「GitHub」社（Microsoft傘下）が提供する、
ファイル公開サービス。
→ ここに置くのは“画面”だけ。個人情報は置きません。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029968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</a:rPr>
              <a:t>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487168"/>
            <a:ext cx="3118104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43244"/>
                </a:solidFill>
                <a:latin typeface="Meiryo"/>
              </a:rPr>
              <a:t>プログラム(サーバー)を動かすクラウド。
AWS等と同系統の正規サービス。
→ ここのデータベースに申込内容を保存。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520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029968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</a:rPr>
              <a:t>Netlify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87168"/>
            <a:ext cx="3118104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43244"/>
                </a:solidFill>
                <a:latin typeface="Meiryo"/>
              </a:rPr>
              <a:t>GitHub Pagesと同じく、画面ファイルの公開サービス。
→ 予備の公開先。個人情報は置きません。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3A5F"/>
                </a:solidFill>
                <a:latin typeface="Meiryo"/>
              </a:rPr>
              <a:t>どれも世界中の企業が使う“正規のクラウドサービス”</a:t>
            </a:r>
            <a:r>
              <a:rPr sz="1500" b="0">
                <a:solidFill>
                  <a:srgbClr val="243244"/>
                </a:solidFill>
                <a:latin typeface="Meiryo"/>
              </a:rPr>
              <a:t>（怪しい個人サイトではありません）。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07A3F"/>
                </a:solidFill>
                <a:latin typeface="Meiryo"/>
              </a:rPr>
              <a:t>大事な区別：</a:t>
            </a:r>
            <a:r>
              <a:rPr sz="1500" b="0">
                <a:solidFill>
                  <a:srgbClr val="243244"/>
                </a:solidFill>
                <a:latin typeface="Meiryo"/>
              </a:rPr>
              <a:t>「画面」を置く場所（GitHub/Netlify）と、「個人情報」を保存する場所（Render）は別。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785"/>
                </a:solidFill>
                <a:latin typeface="Meiryo"/>
              </a:rPr>
              <a:t>個人情報（氏名・生年月日・電話・住所・署名）は </a:t>
            </a:r>
            <a:r>
              <a:rPr sz="1400" b="1">
                <a:solidFill>
                  <a:srgbClr val="1F3A5F"/>
                </a:solidFill>
                <a:latin typeface="Meiryo"/>
              </a:rPr>
              <a:t>Renderのサーバーだけ</a:t>
            </a:r>
            <a:r>
              <a:rPr sz="1400" b="0">
                <a:solidFill>
                  <a:srgbClr val="6B7785"/>
                </a:solidFill>
                <a:latin typeface="Meiryo"/>
              </a:rPr>
              <a:t> に入ります。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07A3F"/>
                </a:solidFill>
                <a:latin typeface="Meiryo"/>
              </a:rPr>
              <a:t>安全性チェック（その1）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F3A5F"/>
                </a:solidFill>
                <a:latin typeface="Meiryo"/>
              </a:rPr>
              <a:t>守れていること ◎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2926080" cy="45720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411480" cy="411480"/>
          </a:xfrm>
          <a:prstGeom prst="round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1051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</a:rPr>
              <a:t>通信の暗号化： </a:t>
            </a:r>
            <a:r>
              <a:rPr sz="1400" b="0">
                <a:solidFill>
                  <a:srgbClr val="243244"/>
                </a:solidFill>
                <a:latin typeface="Meiryo"/>
              </a:rPr>
              <a:t>iPad ⇄ サーバーは HTTPS。やり取りが暗号化され、Wi-Fiで盗み見されにくい。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70048"/>
            <a:ext cx="411480" cy="411480"/>
          </a:xfrm>
          <a:prstGeom prst="round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688336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517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</a:rPr>
              <a:t>合言葉での入口チェック： </a:t>
            </a:r>
            <a:r>
              <a:rPr sz="1400" b="0">
                <a:solidFill>
                  <a:srgbClr val="243244"/>
                </a:solidFill>
                <a:latin typeface="Meiryo"/>
              </a:rPr>
              <a:t>合言葉が一致しないリクエストは、サーバーが 401 で全部はじく。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411480" cy="411480"/>
          </a:xfrm>
          <a:prstGeom prst="round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529584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49300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</a:rPr>
              <a:t>正規クラウドに保存： </a:t>
            </a:r>
            <a:r>
              <a:rPr sz="1400" b="0">
                <a:solidFill>
                  <a:srgbClr val="243244"/>
                </a:solidFill>
                <a:latin typeface="Meiryo"/>
              </a:rPr>
              <a:t>データはRenderの管理されたデータベース内。iPadの紛失でデータ消失…にならない。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52544"/>
            <a:ext cx="411480" cy="411480"/>
          </a:xfrm>
          <a:prstGeom prst="round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37083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34256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</a:rPr>
              <a:t>画面と個人情報を分離： </a:t>
            </a:r>
            <a:r>
              <a:rPr sz="1400" b="0">
                <a:solidFill>
                  <a:srgbClr val="243244"/>
                </a:solidFill>
                <a:latin typeface="Meiryo"/>
              </a:rPr>
              <a:t>公開ファイル(GitHub/Netlify)には個人情報を置かない設計。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93792"/>
            <a:ext cx="411480" cy="411480"/>
          </a:xfrm>
          <a:prstGeom prst="round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21208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75504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</a:rPr>
              <a:t>端末には残さない： </a:t>
            </a:r>
            <a:r>
              <a:rPr sz="1400" b="0">
                <a:solidFill>
                  <a:srgbClr val="243244"/>
                </a:solidFill>
                <a:latin typeface="Meiryo"/>
              </a:rPr>
              <a:t>入力“途中”の下書き以外、お客様情報をiPad本体に保存しない。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07A3F"/>
                </a:solidFill>
                <a:latin typeface="Meiryo"/>
              </a:rPr>
              <a:t>安全性チェック（その2）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F3A5F"/>
                </a:solidFill>
                <a:latin typeface="Meiryo"/>
              </a:rPr>
              <a:t>弱いところ・注意点 △（正直に）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2926080" cy="45720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411480" cy="411480"/>
          </a:xfrm>
          <a:prstGeom prst="round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1051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B3402A"/>
                </a:solidFill>
                <a:latin typeface="Meiryo"/>
              </a:rPr>
              <a:t>合言葉が「1個」だけ： </a:t>
            </a:r>
            <a:r>
              <a:rPr sz="1400" b="0">
                <a:solidFill>
                  <a:srgbClr val="243244"/>
                </a:solidFill>
                <a:latin typeface="Meiryo"/>
              </a:rPr>
              <a:t>全員で同じ合言葉。漏れたら誰でも全データを見られる。個人ごとのIDは無し。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70048"/>
            <a:ext cx="411480" cy="411480"/>
          </a:xfrm>
          <a:prstGeom prst="round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688336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517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B3402A"/>
                </a:solidFill>
                <a:latin typeface="Meiryo"/>
              </a:rPr>
              <a:t>総当たり対策が弱い： </a:t>
            </a:r>
            <a:r>
              <a:rPr sz="1400" b="0">
                <a:solidFill>
                  <a:srgbClr val="243244"/>
                </a:solidFill>
                <a:latin typeface="Meiryo"/>
              </a:rPr>
              <a:t>間違えてもロックされない＝パスワードを機械的に試され続けると破られうる。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411480" cy="411480"/>
          </a:xfrm>
          <a:prstGeom prst="round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529584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49300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B3402A"/>
                </a:solidFill>
                <a:latin typeface="Meiryo"/>
              </a:rPr>
              <a:t>どこからでも接続可(CORS *)： </a:t>
            </a:r>
            <a:r>
              <a:rPr sz="1400" b="0">
                <a:solidFill>
                  <a:srgbClr val="243244"/>
                </a:solidFill>
                <a:latin typeface="Meiryo"/>
              </a:rPr>
              <a:t>API自体はネット上の誰でも叩ける。守りは“合言葉だけ”に依存している。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52544"/>
            <a:ext cx="411480" cy="411480"/>
          </a:xfrm>
          <a:prstGeom prst="round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37083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34256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B3402A"/>
                </a:solidFill>
                <a:latin typeface="Meiryo"/>
              </a:rPr>
              <a:t>コード内に既定値： </a:t>
            </a:r>
            <a:r>
              <a:rPr sz="1400" b="0">
                <a:solidFill>
                  <a:srgbClr val="243244"/>
                </a:solidFill>
                <a:latin typeface="Meiryo"/>
              </a:rPr>
              <a:t>公開ファイルにサーバーURLが書いてある。合言葉が弱いと推測されやすい。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93792"/>
            <a:ext cx="411480" cy="411480"/>
          </a:xfrm>
          <a:prstGeom prst="round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21208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75504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B3402A"/>
                </a:solidFill>
                <a:latin typeface="Meiryo"/>
              </a:rPr>
              <a:t>コメントにも明記： </a:t>
            </a:r>
            <a:r>
              <a:rPr sz="1400" b="0">
                <a:solidFill>
                  <a:srgbClr val="243244"/>
                </a:solidFill>
                <a:latin typeface="Meiryo"/>
              </a:rPr>
              <a:t>ソース自体が「試験運用向けの簡易保護」と書いている＝本番フル運用前提ではない。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07A3F"/>
                </a:solidFill>
                <a:latin typeface="Meiryo"/>
              </a:rPr>
              <a:t>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F3A5F"/>
                </a:solidFill>
                <a:latin typeface="Meiryo"/>
              </a:rPr>
              <a:t>今は“身内の試験運用ならOK”ライン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2926080" cy="45720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972800" cy="1051560"/>
          </a:xfrm>
          <a:prstGeom prst="roundRect">
            <a:avLst/>
          </a:prstGeom>
          <a:solidFill>
            <a:srgbClr val="ECF4EE"/>
          </a:solidFill>
          <a:ln w="1905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7A4D"/>
                </a:solidFill>
                <a:latin typeface="Meiryo"/>
              </a:rPr>
              <a:t>◎ スタッフ内・少人数の試験運用としては妥当</a:t>
            </a:r>
            <a:r>
              <a:rPr sz="1400" b="0">
                <a:solidFill>
                  <a:srgbClr val="243244"/>
                </a:solidFill>
                <a:latin typeface="Meiryo"/>
              </a:rPr>
              <a:t>（暗号化＋合言葉でひとまず保護）。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3244"/>
                </a:solidFill>
                <a:latin typeface="Meiryo"/>
              </a:rPr>
              <a:t>△ ただし個人情報（氏名・生年月日・住所・署名）を本格的に大量に扱うなら、下の強化を推奨。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3A5F"/>
                </a:solidFill>
                <a:latin typeface="Meiryo"/>
              </a:rPr>
              <a:t>本番運用の前にやると安心なこと：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84448"/>
            <a:ext cx="146304" cy="146304"/>
          </a:xfrm>
          <a:prstGeom prst="round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43244"/>
                </a:solidFill>
                <a:latin typeface="Meiryo"/>
              </a:rPr>
              <a:t>合言葉を長く複雑にして、定期的に変える（紙やチャットに残さない）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87368"/>
            <a:ext cx="146304" cy="146304"/>
          </a:xfrm>
          <a:prstGeom prst="round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43244"/>
                </a:solidFill>
                <a:latin typeface="Meiryo"/>
              </a:rPr>
              <a:t>スタッフごとのID/パスワードにする（誰が操作したか分かる）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90288"/>
            <a:ext cx="146304" cy="146304"/>
          </a:xfrm>
          <a:prstGeom prst="round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262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43244"/>
                </a:solidFill>
                <a:latin typeface="Meiryo"/>
              </a:rPr>
              <a:t>接続できる場所を自社サイトに限定する（CORSを“*”から絞る）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093208"/>
            <a:ext cx="146304" cy="146304"/>
          </a:xfrm>
          <a:prstGeom prst="round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43244"/>
                </a:solidFill>
                <a:latin typeface="Meiryo"/>
              </a:rPr>
              <a:t>パスワード連続失敗のロック（総当たり対策）を入れる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96128"/>
            <a:ext cx="146304" cy="146304"/>
          </a:xfrm>
          <a:prstGeom prst="round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5321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43244"/>
                </a:solidFill>
                <a:latin typeface="Meiryo"/>
              </a:rPr>
              <a:t>個人情報の取得目的・同意・保管期間・バックアップ方針を決めておく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07A3F"/>
                </a:solidFill>
                <a:latin typeface="Meiryo"/>
              </a:rPr>
              <a:t>おまけ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F3A5F"/>
                </a:solidFill>
                <a:latin typeface="Meiryo"/>
              </a:rPr>
              <a:t>用語の早わかり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2926080" cy="45720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029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eiryo"/>
              </a:rPr>
              <a:t>サーバー： </a:t>
            </a:r>
            <a:r>
              <a:rPr sz="1250" b="0">
                <a:solidFill>
                  <a:srgbClr val="243244"/>
                </a:solidFill>
                <a:latin typeface="Meiryo"/>
              </a:rPr>
              <a:t>プログラムをずっと動かし続けるコンピュータ。データの保管庫。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94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eiryo"/>
              </a:rPr>
              <a:t>API： </a:t>
            </a:r>
            <a:r>
              <a:rPr sz="1250" b="0">
                <a:solidFill>
                  <a:srgbClr val="243244"/>
                </a:solidFill>
                <a:latin typeface="Meiryo"/>
              </a:rPr>
              <a:t>アプリとサーバーの“受け渡し窓口”。決まった作法で出し入れする。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5394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5029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eiryo"/>
              </a:rPr>
              <a:t>データベース(DB)： </a:t>
            </a:r>
            <a:r>
              <a:rPr sz="1250" b="0">
                <a:solidFill>
                  <a:srgbClr val="243244"/>
                </a:solidFill>
                <a:latin typeface="Meiryo"/>
              </a:rPr>
              <a:t>データを整理して貯めておく仕組み。今回はPostgreSQL。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88920"/>
            <a:ext cx="5394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80360"/>
            <a:ext cx="5029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eiryo"/>
              </a:rPr>
              <a:t>HTTPS： </a:t>
            </a:r>
            <a:r>
              <a:rPr sz="1250" b="0">
                <a:solidFill>
                  <a:srgbClr val="243244"/>
                </a:solidFill>
                <a:latin typeface="Meiryo"/>
              </a:rPr>
              <a:t>通信を暗号化する仕組み。URLが https で鍵マークが付く。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40"/>
            <a:ext cx="5394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5029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eiryo"/>
              </a:rPr>
              <a:t>合言葉/パスワード： </a:t>
            </a:r>
            <a:r>
              <a:rPr sz="1250" b="0">
                <a:solidFill>
                  <a:srgbClr val="243244"/>
                </a:solidFill>
                <a:latin typeface="Meiryo"/>
              </a:rPr>
              <a:t>正しい人かを確かめる鍵。今回はスタッフ共通の1個。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40"/>
            <a:ext cx="5394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5029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eiryo"/>
              </a:rPr>
              <a:t>GitHub Pages / Netlify： </a:t>
            </a:r>
            <a:r>
              <a:rPr sz="1250" b="0">
                <a:solidFill>
                  <a:srgbClr val="243244"/>
                </a:solidFill>
                <a:latin typeface="Meiryo"/>
              </a:rPr>
              <a:t>作った画面ファイルをネットに公開するサービス。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60"/>
            <a:ext cx="5394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5029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eiryo"/>
              </a:rPr>
              <a:t>Render： </a:t>
            </a:r>
            <a:r>
              <a:rPr sz="1250" b="0">
                <a:solidFill>
                  <a:srgbClr val="243244"/>
                </a:solidFill>
                <a:latin typeface="Meiryo"/>
              </a:rPr>
              <a:t>サーバーとDBを動かしているクラウド。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09160"/>
            <a:ext cx="5394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800600"/>
            <a:ext cx="5029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Meiryo"/>
              </a:rPr>
              <a:t>CORS： </a:t>
            </a:r>
            <a:r>
              <a:rPr sz="1250" b="0">
                <a:solidFill>
                  <a:srgbClr val="243244"/>
                </a:solidFill>
                <a:latin typeface="Meiryo"/>
              </a:rPr>
              <a:t>“どのサイトからAPIを呼んでよいか”の許可設定。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91695" cy="73152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D9B8"/>
                </a:solidFill>
                <a:latin typeface="Meiryo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・正体：画面=GitHub/Netlify、保管=Renderの正規クラウド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・安全：HTTPS暗号化＋合言葉。身内の試験運用なら妥当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・弱点：合言葉1個＆総当たり対策が弱い＝本番前に強化を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・個人情報はRenderだけ。画面の公開先には置いていない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DD9EA"/>
                </a:solidFill>
                <a:latin typeface="Meiryo"/>
              </a:rPr>
              <a:t>不安な点や、強化したい項目があれば一緒に対応できます。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